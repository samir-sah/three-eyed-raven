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499af06704e0f" /><Relationship Type="http://schemas.openxmlformats.org/officeDocument/2006/relationships/extended-properties" Target="/docProps/app.xml" Id="R5d182620d4954891" /><Relationship Type="http://schemas.openxmlformats.org/officeDocument/2006/relationships/officeDocument" Target="/ppt/presentation.xml" Id="R8595582d0d8e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853f3078c8488e"/>
  </p:sldMasterIdLst>
  <p:notesMasterIdLst>
    <p:notesMasterId xmlns:r="http://schemas.openxmlformats.org/officeDocument/2006/relationships" r:id="Re9e3aba590184b44"/>
  </p:notesMasterIdLst>
  <p:sldIdLst>
    <p:sldId xmlns:r="http://schemas.openxmlformats.org/officeDocument/2006/relationships" id="256" r:id="R2ceb5d8bf8c34980"/>
    <p:sldId xmlns:r="http://schemas.openxmlformats.org/officeDocument/2006/relationships" id="257" r:id="R3e8927246e0a48de"/>
    <p:sldId xmlns:r="http://schemas.openxmlformats.org/officeDocument/2006/relationships" id="258" r:id="R2fb1b0c051214eb3"/>
    <p:sldId xmlns:r="http://schemas.openxmlformats.org/officeDocument/2006/relationships" id="259" r:id="R2e28d410a85e4820"/>
    <p:sldId xmlns:r="http://schemas.openxmlformats.org/officeDocument/2006/relationships" id="260" r:id="Ra84aefdddd8d445e"/>
    <p:sldId xmlns:r="http://schemas.openxmlformats.org/officeDocument/2006/relationships" id="261" r:id="R63ee2f50efa34d03"/>
    <p:sldId xmlns:r="http://schemas.openxmlformats.org/officeDocument/2006/relationships" id="262" r:id="R4c204e6be7b8499e"/>
    <p:sldId xmlns:r="http://schemas.openxmlformats.org/officeDocument/2006/relationships" id="263" r:id="R6867393809ca4f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ea63ae04a940e6" /><Relationship Type="http://schemas.openxmlformats.org/officeDocument/2006/relationships/slideMaster" Target="/ppt/slideMasters/slideMaster1.xml" Id="Ree853f3078c8488e" /><Relationship Type="http://schemas.openxmlformats.org/officeDocument/2006/relationships/notesMaster" Target="/ppt/notesMasters/notesMaster1.xml" Id="Re9e3aba590184b44" /><Relationship Type="http://schemas.openxmlformats.org/officeDocument/2006/relationships/presProps" Target="/ppt/presProps.xml" Id="Rf12188424b374046" /><Relationship Type="http://schemas.openxmlformats.org/officeDocument/2006/relationships/tableStyles" Target="/ppt/tableStyles.xml" Id="R0e4a6ecfd661475a" /><Relationship Type="http://schemas.openxmlformats.org/officeDocument/2006/relationships/slide" Target="/ppt/slides/slide1.xml" Id="R2ceb5d8bf8c34980" /><Relationship Type="http://schemas.openxmlformats.org/officeDocument/2006/relationships/slide" Target="/ppt/slides/slide2.xml" Id="R3e8927246e0a48de" /><Relationship Type="http://schemas.openxmlformats.org/officeDocument/2006/relationships/slide" Target="/ppt/slides/slide3.xml" Id="R2fb1b0c051214eb3" /><Relationship Type="http://schemas.openxmlformats.org/officeDocument/2006/relationships/slide" Target="/ppt/slides/slide4.xml" Id="R2e28d410a85e4820" /><Relationship Type="http://schemas.openxmlformats.org/officeDocument/2006/relationships/slide" Target="/ppt/slides/slide5.xml" Id="Ra84aefdddd8d445e" /><Relationship Type="http://schemas.openxmlformats.org/officeDocument/2006/relationships/slide" Target="/ppt/slides/slide6.xml" Id="R63ee2f50efa34d03" /><Relationship Type="http://schemas.openxmlformats.org/officeDocument/2006/relationships/slide" Target="/ppt/slides/slide7.xml" Id="R4c204e6be7b8499e" /><Relationship Type="http://schemas.openxmlformats.org/officeDocument/2006/relationships/slide" Target="/ppt/slides/slide8.xml" Id="R6867393809ca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a32f58156a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49bfe73824af7" /><Relationship Type="http://schemas.openxmlformats.org/officeDocument/2006/relationships/notesMaster" Target="/ppt/notesMasters/notesMaster1.xml" Id="Rb01e69c799d6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3cfb3e0f804ae5" /><Relationship Type="http://schemas.openxmlformats.org/officeDocument/2006/relationships/notesMaster" Target="/ppt/notesMasters/notesMaster1.xml" Id="R17121ac8405a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3410cbc48543bd" /><Relationship Type="http://schemas.openxmlformats.org/officeDocument/2006/relationships/notesMaster" Target="/ppt/notesMasters/notesMaster1.xml" Id="R6bbccec382564a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326a2452d64192" /><Relationship Type="http://schemas.openxmlformats.org/officeDocument/2006/relationships/notesMaster" Target="/ppt/notesMasters/notesMaster1.xml" Id="R7320b12e6a76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5af6ebc3d9447f" /><Relationship Type="http://schemas.openxmlformats.org/officeDocument/2006/relationships/notesMaster" Target="/ppt/notesMasters/notesMaster1.xml" Id="R3c6a21bdaed247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63718cbf241fb" /><Relationship Type="http://schemas.openxmlformats.org/officeDocument/2006/relationships/notesMaster" Target="/ppt/notesMasters/notesMaster1.xml" Id="R066af0f873504c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dbb2d2c7204404" /><Relationship Type="http://schemas.openxmlformats.org/officeDocument/2006/relationships/notesMaster" Target="/ppt/notesMasters/notesMaster1.xml" Id="R857f9f12ddce43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3afda34c7a42ac" /><Relationship Type="http://schemas.openxmlformats.org/officeDocument/2006/relationships/notesMaster" Target="/ppt/notesMasters/notesMaster1.xml" Id="R808c0358965b46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scope. Source: project README and implementation status, 30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docs/DEMO_SCRIPT.md. Scope statement deliberately distinguishes local tracking from identity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source modules under src/crowd_tracker, and dashboard implementation. This slide describes implemented components, not deployment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dashboard implementation, FastAPI artifact service, README.md. The dashboard is a local demonstration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artifacts/mot17_visdrone_person_50e_full/benchmark_summary.json. Aggregate over seven MOT17 FRCNN train sequences: precision 0.9093, recall 0.1712, F1 0.2882, MOTA 0.1514, MOTP 0.7686, IDF1 0.2193, internal HOTA 0.1726, and 311 ID switches.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runs/detect/runs/detect/visdrone_person_50e/results.csv and training.log. Final best-checkpoint validation: precision 0.623, recall 0.433, mAP50 0.476, mAP50-95 0.184.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FIELD_VALIDATION.md. These controls define the project's intended safe operating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docs/IMPLEMENTATION_STATUS.md and artifacts/mot17_visdrone_person_50e_full/benchmark_summary.json. Full MOT17 aggregate: MOTA 0.151, MOTP 0.769, IDF1 0.219, internal HOTA 0.173, 311 ID switches across 112,297 ground-truth boxes.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c27caac0740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6f6166aba74db4" /><Relationship Type="http://schemas.openxmlformats.org/officeDocument/2006/relationships/slideLayout" Target="/ppt/slideLayouts/slideLayout1.xml" Id="R21757e46a9524f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57e46a9524f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691aa992b46d9" /><Relationship Type="http://schemas.openxmlformats.org/officeDocument/2006/relationships/notesSlide" Target="/ppt/notesSlides/notesSlide1.xml" Id="R742e2dacbed24b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c6ddb41924204" /><Relationship Type="http://schemas.openxmlformats.org/officeDocument/2006/relationships/notesSlide" Target="/ppt/notesSlides/notesSlide2.xml" Id="Rce43460eeb8347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c7161b88e436f" /><Relationship Type="http://schemas.openxmlformats.org/officeDocument/2006/relationships/notesSlide" Target="/ppt/notesSlides/notesSlide3.xml" Id="R00f87b3c4e0d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cfa08bf1c46f0" /><Relationship Type="http://schemas.openxmlformats.org/officeDocument/2006/relationships/notesSlide" Target="/ppt/notesSlides/notesSlide4.xml" Id="Rac9a1ae6b142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8ef6259724391" /><Relationship Type="http://schemas.openxmlformats.org/officeDocument/2006/relationships/chart" Target="/ppt/slides/charts/chart1.xml" Id="Rab8983c5c9b14310" /><Relationship Type="http://schemas.openxmlformats.org/officeDocument/2006/relationships/notesSlide" Target="/ppt/notesSlides/notesSlide5.xml" Id="Ra910e18687a04d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1cf84e28c4921" /><Relationship Type="http://schemas.openxmlformats.org/officeDocument/2006/relationships/notesSlide" Target="/ppt/notesSlides/notesSlide6.xml" Id="Red0fbc8c656448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4a1df78634cc5" /><Relationship Type="http://schemas.openxmlformats.org/officeDocument/2006/relationships/notesSlide" Target="/ppt/notesSlides/notesSlide7.xml" Id="R4ce2161b4a324e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bfb8dead24ae8" /><Relationship Type="http://schemas.openxmlformats.org/officeDocument/2006/relationships/notesSlide" Target="/ppt/notesSlides/notesSlide8.xml" Id="R9cc1aee0025b416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Full MOT17 aggregate</c:v>
          </c:tx>
          <c:spPr>
            <a:solidFill xmlns:a="http://schemas.openxmlformats.org/drawingml/2006/main">
              <a:srgbClr val="111111"/>
            </a:solidFill>
          </c:spPr>
          <c:cat>
            <c:strLit>
              <c:ptCount val="6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MOTA</c:v>
              </c:pt>
              <c:pt idx="4">
                <c:v>IDF1</c:v>
              </c:pt>
              <c:pt idx="5">
                <c:v>HOTA</c:v>
              </c:pt>
            </c:strLit>
          </c:cat>
          <c:val>
            <c:numLit>
              <c:formatCode>0%</c:formatCode>
              <c:ptCount val="6"/>
              <c:pt idx="0">
                <c:v>0.9093</c:v>
              </c:pt>
              <c:pt idx="1">
                <c:v>0.1712</c:v>
              </c:pt>
              <c:pt idx="2">
                <c:v>0.2882</c:v>
              </c:pt>
              <c:pt idx="3">
                <c:v>0.1514</c:v>
              </c:pt>
              <c:pt idx="4">
                <c:v>0.2193</c:v>
              </c:pt>
              <c:pt idx="5">
                <c:v>0.1726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4D4D4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B4F55-054B-49F9-9E11-B3221FAE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E8E4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2EB27-11BE-44C1-A0C5-1530106D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8F8F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8F8F6"/>
                </a:solidFill>
                <a:latin typeface="Arial"/>
                <a:ea typeface="Arial"/>
                <a:cs typeface="Arial"/>
              </a:rPr>
              <a:t>Real-Time Crowd Tracking Using Drones and Surveillance Cameras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F1F13-2D64-4A7E-B46B-F3BA5075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B8B8B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8B3"/>
                </a:solidFill>
                <a:latin typeface="Arial"/>
                <a:ea typeface="Arial"/>
                <a:cs typeface="Arial"/>
              </a:rPr>
              <a:t>Project review and 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7B161-0F90-408F-9419-2302081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B8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B8B3"/>
                </a:solidFill>
                <a:latin typeface="Arial"/>
                <a:ea typeface="Arial"/>
                <a:cs typeface="Arial"/>
              </a:rPr>
              <a:t>Local demo prototype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1876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97FC6-157D-4389-A3C1-729E030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3484A-0D8B-445A-89AD-E23ECA41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2C243-B93B-4627-9F56-C1ACDE6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987D6-AECC-424E-9732-D6708D83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77"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3330"/>
                </a:solidFill>
                <a:latin typeface="Arial"/>
                <a:ea typeface="Arial"/>
                <a:cs typeface="Arial"/>
              </a:rPr>
              <a:t>The platform processes drone or CCTV footage to detect people, assign temporary local track IDs, measure crowd occupancy, and raise zone-threshold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7C245-2F4C-4BBF-994B-C39CE43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0"/>
                </a:solidFill>
                <a:latin typeface="Arial"/>
                <a:ea typeface="Arial"/>
                <a:cs typeface="Arial"/>
              </a:rPr>
              <a:t>The assessed demonstration uses recorded footage for repeatability. Live RTSP support requires an authorised source, calibration, and field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B376A-27E1-4893-8891-0B2C2B5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5550"/>
                </a:solidFill>
                <a:latin typeface="Arial"/>
                <a:ea typeface="Arial"/>
                <a:cs typeface="Arial"/>
              </a:rPr>
              <a:t>Privacy boundary: cross-camera results remain ranked review candidates. The system does not merge identities or identify people.</a:t>
            </a:r>
          </a:p>
        </p:txBody>
      </p:sp>
    </p:spTree>
    <p:extLst>
      <p:ext uri="{BB962C8B-B14F-4D97-AF65-F5344CB8AC3E}">
        <p14:creationId xmlns:p14="http://schemas.microsoft.com/office/powerpoint/2010/main" val="1598235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6137A-B141-4EB6-8356-F888163C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F395B-F0D0-49FB-A854-B6133E0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C093B-A1E0-4A0D-A0F1-D97E3DD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Implemented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EDF2-8C41-422F-B18E-78E504DD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DC014-5709-45C3-BF08-D39A664F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22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Recorded video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RTSP/HTTP-ready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6030F-049F-48C8-859F-1CFF7DF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2A905-CB3F-4A5C-B9CA-DDDAFCA9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YOLO person detection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ByteTrack local tracking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58BF2-BA4E-41C6-9475-5232007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9243A-E344-4B59-A199-166627F7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Zone occupancy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Threshold alerts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Latency profiling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5D92A-50B6-4CAA-BA1E-2F7F22D3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129B-E0C8-4F00-9A1C-2449743D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219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Annotated video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JSONL events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SQLite run index</a:t>
            </a:r>
          </a:p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546A-E4E8-4038-99D0-5435ED4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89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3330"/>
                </a:solidFill>
                <a:latin typeface="Arial"/>
                <a:ea typeface="Arial"/>
                <a:cs typeface="Arial"/>
              </a:rPr>
              <a:t>Each camera keeps an independent ID namespace. Cross-camera appearance ranking is explicitly human-review only.</a:t>
            </a:r>
          </a:p>
        </p:txBody>
      </p:sp>
    </p:spTree>
    <p:extLst>
      <p:ext uri="{BB962C8B-B14F-4D97-AF65-F5344CB8AC3E}">
        <p14:creationId xmlns:p14="http://schemas.microsoft.com/office/powerpoint/2010/main" val="845083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7859A-3510-47E7-852C-00540A9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2C52A-6A0D-4165-AED5-110E4D1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CCCE-A2C1-4A14-BD2F-F4594E6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demonstration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8D96C-1E24-4E98-BF61-CD6C755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56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The Next.js dashboard provides a clear panel view for assessment and debugging.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00B34-3294-4B3D-8207-09705B07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Playback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917D0-6B23-4629-8EE0-116EDAF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Annotated output video and browser-safe preview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0BD2E-2600-48F3-88C1-8240AB6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Run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F8B2-E5F3-451F-AA5D-9300272A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Processed frames, peak count, FPS, IDs, and stage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B9955-1C06-44E9-836B-2461F7B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Operational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9FB77-6234-406F-811F-9510C1D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5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Alert history, track health, benchmark card, and review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542E2-5EEC-4DCB-B489-5085D33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25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33330"/>
                </a:solidFill>
                <a:latin typeface="Arial"/>
                <a:ea typeface="Arial"/>
                <a:cs typeface="Arial"/>
              </a:rPr>
              <a:t>FastAPI exposes read-only run artefacts. SQLite indexes completed runs for local persistence.</a:t>
            </a:r>
          </a:p>
        </p:txBody>
      </p:sp>
    </p:spTree>
    <p:extLst>
      <p:ext uri="{BB962C8B-B14F-4D97-AF65-F5344CB8AC3E}">
        <p14:creationId xmlns:p14="http://schemas.microsoft.com/office/powerpoint/2010/main" val="604393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AB69A-6574-4644-AE32-2AFC256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7BFE-FDED-4AC0-A504-113595D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E1286-B863-4917-9B3B-0F1E408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MOT17 full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2C27C-C17E-4079-B351-261EC74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0"/>
                </a:solidFill>
                <a:latin typeface="Arial"/>
                <a:ea typeface="Arial"/>
                <a:cs typeface="Arial"/>
              </a:rPr>
              <a:t>All 7 MOT17 FRCNN train sequences | VisDrone-trained YOLO11n + ByteTrack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A294A-DD2E-48C5-A9AF-4EACAAE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0.151 MOTA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2968F-F603-4D38-B710-4C2E44DB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0"/>
                </a:solidFill>
                <a:latin typeface="Arial"/>
                <a:ea typeface="Arial"/>
                <a:cs typeface="Arial"/>
              </a:rPr>
              <a:t>Aggregate MOTA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FC230-4474-4956-A2AE-F69711E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311 ID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253C4-0958-45B7-B995-9E115BE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6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The full benchmark exposes the aerial-to-ground gap: high precision with low recall. The result should guide the next training experiment.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6096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983c5c9b14310"/>
          </a:graphicData>
        </a:graphic>
      </p:graphicFrame>
    </p:spTree>
    <p:extLst>
      <p:ext uri="{BB962C8B-B14F-4D97-AF65-F5344CB8AC3E}">
        <p14:creationId xmlns:p14="http://schemas.microsoft.com/office/powerpoint/2010/main" val="1173287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E1973-F0B4-40C1-844E-E42B44B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3ADC4-136F-4A1B-8D6D-9735022C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0531-87A5-4956-9871-7A2007E3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Aerial detector training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48D8-ABFE-4613-A799-1F58060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VisDrone DET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F35F2-130F-4F3C-82E2-32E5FD7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42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6,471 train images</a:t>
            </a:r>
          </a:p>
          <a:p xmlns:a="http://schemas.openxmlformats.org/drawingml/2006/main">
            <a:pPr>
              <a:buNone/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548 validation images</a:t>
            </a:r>
          </a:p>
          <a:p xmlns:a="http://schemas.openxmlformats.org/drawingml/2006/main">
            <a:pPr>
              <a:buNone/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Person-related annotations converted to one YOLO 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57882-2043-47C1-B128-235F98F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Full CUDA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CD6A0-9E1A-4483-A8F7-35E65485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24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42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YOLO11n | 640 px | batch 4 | 50 epochs</a:t>
            </a:r>
          </a:p>
          <a:p xmlns:a="http://schemas.openxmlformats.org/drawingml/2006/main">
            <a:pPr>
              <a:buNone/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RTX 3050 Laptop GPU</a:t>
            </a:r>
          </a:p>
          <a:p xmlns:a="http://schemas.openxmlformats.org/drawingml/2006/main">
            <a:pPr>
              <a:buNone/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Best checkpoint validated successfully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CF9B4-E9F2-47F8-86F0-86998B00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mAP50 0.476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46F87-F8DB-45B8-9B17-110F2265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mAP50-95 0.184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D3666-EA1F-4ADF-9EEE-91AE307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03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The completed 50-epoch run validates the training workflow and best checkpoint. Results show clear aerial validation gains; report the aerial-to-ground domain gap in MOT17 evaluation.</a:t>
            </a:r>
          </a:p>
        </p:txBody>
      </p:sp>
    </p:spTree>
    <p:extLst>
      <p:ext uri="{BB962C8B-B14F-4D97-AF65-F5344CB8AC3E}">
        <p14:creationId xmlns:p14="http://schemas.microsoft.com/office/powerpoint/2010/main" val="1406127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96905-CED7-4D67-A885-57085F7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5377-89A3-4B0A-A174-7A9A2CDA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B331B-3972-487A-A949-F1A4A55E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Research and deployment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B7196-31E5-4197-9AA6-FC83C8F1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track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B7295-D1CE-4326-8AF5-68CEBEC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22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Temporary, camera-specific identifiers. They do not establish a person’s identity.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79753-57EE-4E32-B6BE-CBC0D42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Cross-camera matching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E5161-2315-4BD9-AD3C-E53EA2A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712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Appearance candidates support operator review. The pipeline never performs automatic identity merging.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29CFD-ACBA-4646-84E3-B5DF802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Operational safeguards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B9C0E-2412-45E1-B056-1DA6A3CE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API-key option, credentials excluded from Git, source preflight, bounded capture, and a field-validation checklist.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5504D-5099-4D05-9B83-BAC97E4E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98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33330"/>
                </a:solidFill>
                <a:latin typeface="Arial"/>
                <a:ea typeface="Arial"/>
                <a:cs typeface="Arial"/>
              </a:rPr>
              <a:t>Any live deployment requires authorised camera access, calibrated zones, retention policy, and local legal review.</a:t>
            </a:r>
          </a:p>
        </p:txBody>
      </p:sp>
    </p:spTree>
    <p:extLst>
      <p:ext uri="{BB962C8B-B14F-4D97-AF65-F5344CB8AC3E}">
        <p14:creationId xmlns:p14="http://schemas.microsoft.com/office/powerpoint/2010/main" val="401899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DE35-A8FA-4C55-97B5-C37A23E3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E8E4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BA61D-7987-4F8E-8691-9E53EEE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3C64-74EE-4DE9-9899-E71A4CF2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8F8F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8F8F6"/>
                </a:solidFill>
                <a:latin typeface="Arial"/>
                <a:ea typeface="Arial"/>
                <a:cs typeface="Arial"/>
              </a:rPr>
              <a:t>Project status and remaining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32BA-E927-4DED-AB2E-6B320C9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523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1. Completed: train the VisDrone person detector for 50 epochs and preserve the validated best checkpoint.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BC12-3B13-487E-9E18-33594AD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02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2. Completed: evaluate the trained detector and ByteTrack across all seven available MOT17 FRCNN 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9A728-286F-424F-875F-B599D9B6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2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3. Remaining: obtain licensed Re-ID data, train the supplied model, and report Rank-1, Rank-5, Rank-10, and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0DE5C-BA39-4CFB-A9F2-456AD42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73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4. Remaining: conduct authorised live-field validation with calibrated zones and a documented operating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4561A-B073-4BEB-A97E-A02B5C2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B8B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B8B3"/>
                </a:solidFill>
                <a:latin typeface="Arial"/>
                <a:ea typeface="Arial"/>
                <a:cs typeface="Arial"/>
              </a:rPr>
              <a:t>Current project state: a verified local prototype with a 50-epoch detector, full MOT17 results, real datasets, and a panel-ready dashboard.</a:t>
            </a:r>
          </a:p>
        </p:txBody>
      </p:sp>
    </p:spTree>
    <p:extLst>
      <p:ext uri="{BB962C8B-B14F-4D97-AF65-F5344CB8AC3E}">
        <p14:creationId xmlns:p14="http://schemas.microsoft.com/office/powerpoint/2010/main" val="1237051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2026-09-30T16:10:49.1470000Z</dcterms:created>
  <dcterms:modified xsi:type="dcterms:W3CDTF">2026-09-30T16:10:49.1470000Z</dcterms:modified>
</coreProperties>
</file>