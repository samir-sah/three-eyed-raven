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f442f372c44b4" /><Relationship Type="http://schemas.openxmlformats.org/officeDocument/2006/relationships/extended-properties" Target="/docProps/app.xml" Id="R340fa35a9d1748bb" /><Relationship Type="http://schemas.openxmlformats.org/officeDocument/2006/relationships/officeDocument" Target="/ppt/presentation.xml" Id="R0d1d3ff9b5ed48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fab252831f4259"/>
  </p:sldMasterIdLst>
  <p:notesMasterIdLst>
    <p:notesMasterId xmlns:r="http://schemas.openxmlformats.org/officeDocument/2006/relationships" r:id="Rd4b3ac1b14cb4bee"/>
  </p:notesMasterIdLst>
  <p:sldIdLst>
    <p:sldId xmlns:r="http://schemas.openxmlformats.org/officeDocument/2006/relationships" id="256" r:id="R60c912052509440a"/>
    <p:sldId xmlns:r="http://schemas.openxmlformats.org/officeDocument/2006/relationships" id="257" r:id="R99b63ecbc18549cf"/>
    <p:sldId xmlns:r="http://schemas.openxmlformats.org/officeDocument/2006/relationships" id="258" r:id="Ref1f2f60bdb948b7"/>
    <p:sldId xmlns:r="http://schemas.openxmlformats.org/officeDocument/2006/relationships" id="259" r:id="R9e619797d17943d8"/>
    <p:sldId xmlns:r="http://schemas.openxmlformats.org/officeDocument/2006/relationships" id="260" r:id="Rfbf949ffebea463e"/>
    <p:sldId xmlns:r="http://schemas.openxmlformats.org/officeDocument/2006/relationships" id="261" r:id="R8e8f629a4aec4e2b"/>
    <p:sldId xmlns:r="http://schemas.openxmlformats.org/officeDocument/2006/relationships" id="262" r:id="Re5d294b4cca54249"/>
    <p:sldId xmlns:r="http://schemas.openxmlformats.org/officeDocument/2006/relationships" id="263" r:id="Rd1605922d74549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53994920c479b" /><Relationship Type="http://schemas.openxmlformats.org/officeDocument/2006/relationships/slideMaster" Target="/ppt/slideMasters/slideMaster1.xml" Id="Rc9fab252831f4259" /><Relationship Type="http://schemas.openxmlformats.org/officeDocument/2006/relationships/notesMaster" Target="/ppt/notesMasters/notesMaster1.xml" Id="Rd4b3ac1b14cb4bee" /><Relationship Type="http://schemas.openxmlformats.org/officeDocument/2006/relationships/presProps" Target="/ppt/presProps.xml" Id="Rc68562dba1a943a4" /><Relationship Type="http://schemas.openxmlformats.org/officeDocument/2006/relationships/tableStyles" Target="/ppt/tableStyles.xml" Id="R63b48cf3fd9543f2" /><Relationship Type="http://schemas.openxmlformats.org/officeDocument/2006/relationships/slide" Target="/ppt/slides/slide1.xml" Id="R60c912052509440a" /><Relationship Type="http://schemas.openxmlformats.org/officeDocument/2006/relationships/slide" Target="/ppt/slides/slide2.xml" Id="R99b63ecbc18549cf" /><Relationship Type="http://schemas.openxmlformats.org/officeDocument/2006/relationships/slide" Target="/ppt/slides/slide3.xml" Id="Ref1f2f60bdb948b7" /><Relationship Type="http://schemas.openxmlformats.org/officeDocument/2006/relationships/slide" Target="/ppt/slides/slide4.xml" Id="R9e619797d17943d8" /><Relationship Type="http://schemas.openxmlformats.org/officeDocument/2006/relationships/slide" Target="/ppt/slides/slide5.xml" Id="Rfbf949ffebea463e" /><Relationship Type="http://schemas.openxmlformats.org/officeDocument/2006/relationships/slide" Target="/ppt/slides/slide6.xml" Id="R8e8f629a4aec4e2b" /><Relationship Type="http://schemas.openxmlformats.org/officeDocument/2006/relationships/slide" Target="/ppt/slides/slide7.xml" Id="Re5d294b4cca54249" /><Relationship Type="http://schemas.openxmlformats.org/officeDocument/2006/relationships/slide" Target="/ppt/slides/slide8.xml" Id="Rd1605922d74549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0b064ff81949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95ba18e5644d8c" /><Relationship Type="http://schemas.openxmlformats.org/officeDocument/2006/relationships/notesMaster" Target="/ppt/notesMasters/notesMaster1.xml" Id="R9d47dec3494c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5f53a9a9b14f54" /><Relationship Type="http://schemas.openxmlformats.org/officeDocument/2006/relationships/notesMaster" Target="/ppt/notesMasters/notesMaster1.xml" Id="R5b11f62702a842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542b669ee4ac8" /><Relationship Type="http://schemas.openxmlformats.org/officeDocument/2006/relationships/notesMaster" Target="/ppt/notesMasters/notesMaster1.xml" Id="Rcc70b625eb984d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14665617547b0" /><Relationship Type="http://schemas.openxmlformats.org/officeDocument/2006/relationships/notesMaster" Target="/ppt/notesMasters/notesMaster1.xml" Id="R78496ace058e42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ec3e702aad4241" /><Relationship Type="http://schemas.openxmlformats.org/officeDocument/2006/relationships/notesMaster" Target="/ppt/notesMasters/notesMaster1.xml" Id="R45bbd96fa170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7dee5abd00492b" /><Relationship Type="http://schemas.openxmlformats.org/officeDocument/2006/relationships/notesMaster" Target="/ppt/notesMasters/notesMaster1.xml" Id="Rbbc8a944c0cc4c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0d8b31fa5649b6" /><Relationship Type="http://schemas.openxmlformats.org/officeDocument/2006/relationships/notesMaster" Target="/ppt/notesMasters/notesMaster1.xml" Id="Rb12d6670e40f4a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98f74082ac4bd9" /><Relationship Type="http://schemas.openxmlformats.org/officeDocument/2006/relationships/notesMaster" Target="/ppt/notesMasters/notesMaster1.xml" Id="Rb5e769e6a272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scope. Source: project README and implementation status, 30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docs/DEMO_SCRIPT.md. Scope statement deliberately distinguishes local tracking from identity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source modules under src/crowd_tracker, and dashboard implementation. This slide describes implemented components, not deployment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dashboard implementation, FastAPI artifact service, README.md. The dashboard is a local demonstration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artifacts/mot17_02_baseline/evaluation.json and summary.json. Baseline run results: precision 0.8416, recall 0.2059, F1 0.3309, MOTA 0.1665, MOTP 0.8049, 2 ID switches, 16.95 FPS.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VisDrone preparation command outputs and runs/detect/outputs/detection/visdrone_person_smoke/results.csv. Metrics from the one-epoch validation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FIELD_VALIDATION.md. These controls define the project's intended safe operating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docs/IMPLEMENTATION_STATUS.md. These are remaining gates before a full academic or operational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1dd177085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8d157d81124b81" /><Relationship Type="http://schemas.openxmlformats.org/officeDocument/2006/relationships/slideLayout" Target="/ppt/slideLayouts/slideLayout1.xml" Id="R58f6164e6b50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f6164e6b50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2a46bd7014569" /><Relationship Type="http://schemas.openxmlformats.org/officeDocument/2006/relationships/notesSlide" Target="/ppt/notesSlides/notesSlide1.xml" Id="Re7ec1d5ad8404a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4b268dbe14ae8" /><Relationship Type="http://schemas.openxmlformats.org/officeDocument/2006/relationships/notesSlide" Target="/ppt/notesSlides/notesSlide2.xml" Id="R75113c51c85541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b78e9c14d4687" /><Relationship Type="http://schemas.openxmlformats.org/officeDocument/2006/relationships/notesSlide" Target="/ppt/notesSlides/notesSlide3.xml" Id="Ra398bf2e6b4c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bb664e7fb413e" /><Relationship Type="http://schemas.openxmlformats.org/officeDocument/2006/relationships/notesSlide" Target="/ppt/notesSlides/notesSlide4.xml" Id="Racb780c2e2054e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64a7b19c34b5e" /><Relationship Type="http://schemas.openxmlformats.org/officeDocument/2006/relationships/chart" Target="/ppt/slides/charts/chart1.xml" Id="Re1462cd85c294093" /><Relationship Type="http://schemas.openxmlformats.org/officeDocument/2006/relationships/notesSlide" Target="/ppt/notesSlides/notesSlide5.xml" Id="R63e24be7526e44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f4f868c05472e" /><Relationship Type="http://schemas.openxmlformats.org/officeDocument/2006/relationships/notesSlide" Target="/ppt/notesSlides/notesSlide6.xml" Id="R492b0b78893649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2ac5fd17424d" /><Relationship Type="http://schemas.openxmlformats.org/officeDocument/2006/relationships/notesSlide" Target="/ppt/notesSlides/notesSlide7.xml" Id="R8facf8a016984d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0d9f6696c4f1a" /><Relationship Type="http://schemas.openxmlformats.org/officeDocument/2006/relationships/notesSlide" Target="/ppt/notesSlides/notesSlide8.xml" Id="Rc9fb4f3ca45448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101010"/>
            </a:solidFill>
          </c:spPr>
          <c:cat>
            <c:strRef>
              <c:f>'Chart Data'!$A$2:$A$6</c:f>
              <c:strCache>
                <c:ptCount val="5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MOTA</c:v>
                </c:pt>
                <c:pt idx="4">
                  <c:v>MOTP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0.842</c:v>
                </c:pt>
                <c:pt idx="1">
                  <c:v>0.206</c:v>
                </c:pt>
                <c:pt idx="2">
                  <c:v>0.331</c:v>
                </c:pt>
                <c:pt idx="3">
                  <c:v>0.167</c:v>
                </c:pt>
                <c:pt idx="4">
                  <c:v>0.805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B4F55-054B-49F9-9E11-B3221FAE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E8E4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2EB27-11BE-44C1-A0C5-1530106D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8F8F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8F8F6"/>
                </a:solidFill>
                <a:latin typeface="Arial"/>
                <a:ea typeface="Arial"/>
                <a:cs typeface="Arial"/>
              </a:rPr>
              <a:t>Real-Time Crowd Tracking Using Drones and Surveillance Cameras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F1F13-2D64-4A7E-B46B-F3BA5075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Project review and 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7B161-0F90-408F-9419-23020811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Local demo prototype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18764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97FC6-157D-4389-A3C1-729E030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3484A-0D8B-445A-89AD-E23ECA41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2C243-B93B-4627-9F56-C1ACDE6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987D6-AECC-424E-9732-D6708D83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77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33330"/>
                </a:solidFill>
                <a:latin typeface="Arial"/>
                <a:ea typeface="Arial"/>
                <a:cs typeface="Arial"/>
              </a:rPr>
              <a:t>The platform processes drone or CCTV footage to detect people, assign temporary local track IDs, measure crowd occupancy, and raise zone-threshold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7C245-2F4C-4BBF-994B-C39CE43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The assessed demonstration uses recorded footage for repeatability. Live RTSP support requires an authorised source, calibration, and field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B376A-27E1-4893-8891-0B2C2B5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55550"/>
                </a:solidFill>
                <a:latin typeface="Arial"/>
                <a:ea typeface="Arial"/>
                <a:cs typeface="Arial"/>
              </a:rPr>
              <a:t>Privacy boundary: cross-camera results remain ranked review candidates. The system does not merge identities or identify people.</a:t>
            </a:r>
          </a:p>
        </p:txBody>
      </p:sp>
    </p:spTree>
    <p:extLst>
      <p:ext uri="{BB962C8B-B14F-4D97-AF65-F5344CB8AC3E}">
        <p14:creationId xmlns:p14="http://schemas.microsoft.com/office/powerpoint/2010/main" val="1598235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6137A-B141-4EB6-8356-F888163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F395B-F0D0-49FB-A854-B6133E00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C093B-A1E0-4A0D-A0F1-D97E3DD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Implemented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EDF2-8C41-422F-B18E-78E504DD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DC014-5709-45C3-BF08-D39A664F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2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Recorded video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RTSP/HTTP-ready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6030F-049F-48C8-859F-1CFF7DF5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2A905-CB3F-4A5C-B9CA-DDDAFCA9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YOLO person detection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ByteTrack local tracking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58BF2-BA4E-41C6-9475-5232007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9243A-E344-4B59-A199-166627F7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Zone occupancy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Threshold alerts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Latency profiling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D92A-50B6-4CAA-BA1E-2F7F22D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6129B-E0C8-4F00-9A1C-2449743D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Annotated video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JSONL events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SQLite run index</a:t>
            </a:r>
          </a:p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B546A-E4E8-4038-99D0-5435ED4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8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33330"/>
                </a:solidFill>
                <a:latin typeface="Arial"/>
                <a:ea typeface="Arial"/>
                <a:cs typeface="Arial"/>
              </a:rPr>
              <a:t>Each camera keeps an independent ID namespace. Cross-camera appearance ranking is explicitly human-review only.</a:t>
            </a:r>
          </a:p>
        </p:txBody>
      </p:sp>
    </p:spTree>
    <p:extLst>
      <p:ext uri="{BB962C8B-B14F-4D97-AF65-F5344CB8AC3E}">
        <p14:creationId xmlns:p14="http://schemas.microsoft.com/office/powerpoint/2010/main" val="8450839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7859A-3510-47E7-852C-00540A9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2C52A-6A0D-4165-AED5-110E4D1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CCCE-A2C1-4A14-BD2F-F4594E6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demonstration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8D96C-1E24-4E98-BF61-CD6C755D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56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The Next.js dashboard provides a clear panel view for assessment and debugging.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00B34-3294-4B3D-8207-09705B07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Playback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917D0-6B23-4629-8EE0-116EDAF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Annotated output video and browser-safe preview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0BD2E-2600-48F3-88C1-8240AB6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Run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F8B2-E5F3-451F-AA5D-9300272A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Processed frames, peak count, FPS, IDs, and stage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B9955-1C06-44E9-836B-2461F7B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Operational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9FB77-6234-406F-811F-9510C1D6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5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Alert history, track health, benchmark card, and review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542E2-5EEC-4DCB-B489-5085D33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2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33330"/>
                </a:solidFill>
                <a:latin typeface="Arial"/>
                <a:ea typeface="Arial"/>
                <a:cs typeface="Arial"/>
              </a:rPr>
              <a:t>FastAPI exposes read-only run artefacts. SQLite indexes completed runs for local persistence.</a:t>
            </a:r>
          </a:p>
        </p:txBody>
      </p:sp>
    </p:spTree>
    <p:extLst>
      <p:ext uri="{BB962C8B-B14F-4D97-AF65-F5344CB8AC3E}">
        <p14:creationId xmlns:p14="http://schemas.microsoft.com/office/powerpoint/2010/main" val="604393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AB69A-6574-4644-AE32-2AFC256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7BFE-FDED-4AC0-A504-113595D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E1286-B863-4917-9B3B-0F1E4088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MOT17 tracking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2C27C-C17E-4079-B351-261EC74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MOT17-02-FRCNN | first 120 frames | COCO-pretrained YOLO11n + ByteTrack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6096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462cd85c29409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294A-DD2E-48C5-A9AF-4EACAAE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16.95 FPS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2968F-F603-4D38-B710-4C2E44DB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0"/>
                </a:solidFill>
                <a:latin typeface="Arial"/>
                <a:ea typeface="Arial"/>
                <a:cs typeface="Arial"/>
              </a:rPr>
              <a:t>Processing speed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FC230-4474-4956-A2AE-F69711E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2 ID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253C4-0958-45B7-B995-9E115BE1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The benchmark validates the workflow. Low recall and MOTA show why detector fine-tuning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1173287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E1973-F0B4-40C1-844E-E42B44B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ADC4-136F-4A1B-8D6D-9735022C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0531-87A5-4956-9871-7A2007E3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Aerial detector training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48D8-ABFE-4613-A799-1F58060C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VisDrone DET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F35F2-130F-4F3C-82E2-32E5FD7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4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6,471 train images</a:t>
            </a:r>
          </a:p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548 validation images</a:t>
            </a:r>
          </a:p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Person-related annotations converted to one YOLO 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57882-2043-47C1-B128-235F98F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CUDA smoke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CD6A0-9E1A-4483-A8F7-35E65485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3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YOLO11n | 640 px | batch 4 | 1 epoch</a:t>
            </a:r>
          </a:p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RTX 3050 Laptop GPU</a:t>
            </a:r>
          </a:p>
          <a:p xmlns:a="http://schemas.openxmlformats.org/drawingml/2006/main">
            <a:pPr>
              <a:defRPr sz="17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Checkpoint saved successfully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CF9B4-E9F2-47F8-86F0-86998B00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mAP50 0.204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6F87-F8DB-45B8-9B17-110F2265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72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mAP50-95 0.062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D3666-EA1F-4ADF-9EEE-91AE307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003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One epoch proves the data and training pipeline. A full experiment must use a planned multi-epoch schedule and compare checkpoints on held-out aerial data.</a:t>
            </a:r>
          </a:p>
        </p:txBody>
      </p:sp>
    </p:spTree>
    <p:extLst>
      <p:ext uri="{BB962C8B-B14F-4D97-AF65-F5344CB8AC3E}">
        <p14:creationId xmlns:p14="http://schemas.microsoft.com/office/powerpoint/2010/main" val="14061272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6905-CED7-4D67-A885-57085F7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6D68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5377-89A3-4B0A-A174-7A9A2CDA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D6D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D6D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B331B-3972-487A-A949-F1A4A55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Research and deployment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B7196-31E5-4197-9AA6-FC83C8F1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track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B7295-D1CE-4326-8AF5-68CEBEC6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2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Temporary, camera-specific identifiers. They do not establish a person’s identity.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79753-57EE-4E32-B6BE-CBC0D42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Cross-camera matching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E5161-2315-4BD9-AD3C-E53EA2A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7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Appearance candidates support operator review. The pipeline never performs automatic identity merging.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29CFD-ACBA-4646-84E3-B5DF802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Operational safeguards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B9C0E-2412-45E1-B056-1DA6A3CE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444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44440"/>
                </a:solidFill>
                <a:latin typeface="Arial"/>
                <a:ea typeface="Arial"/>
                <a:cs typeface="Arial"/>
              </a:rPr>
              <a:t>API-key option, credentials excluded from Git, source preflight, bounded capture, and a field-validation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5504D-5099-4D05-9B83-BAC97E4E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9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333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33330"/>
                </a:solidFill>
                <a:latin typeface="Arial"/>
                <a:ea typeface="Arial"/>
                <a:cs typeface="Arial"/>
              </a:rPr>
              <a:t>Any live deployment requires authorised camera access, calibrated zones, retention policy, and local legal review.</a:t>
            </a:r>
          </a:p>
        </p:txBody>
      </p:sp>
    </p:spTree>
    <p:extLst>
      <p:ext uri="{BB962C8B-B14F-4D97-AF65-F5344CB8AC3E}">
        <p14:creationId xmlns:p14="http://schemas.microsoft.com/office/powerpoint/2010/main" val="4018992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DE35-A8FA-4C55-97B5-C37A23E3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E8E4"/>
                </a:solidFill>
                <a:latin typeface="Arial"/>
                <a:ea typeface="Arial"/>
                <a:cs typeface="Arial"/>
              </a:rPr>
              <a:t>THREE EYED RAVEN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BA61D-7987-4F8E-8691-9E53EEE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3C64-74EE-4DE9-9899-E71A4CF2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52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8F8F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8F8F6"/>
                </a:solidFill>
                <a:latin typeface="Arial"/>
                <a:ea typeface="Arial"/>
                <a:cs typeface="Arial"/>
              </a:rPr>
              <a:t>Completion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32BA-E927-4DED-AB2E-6B320C9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1. Train the aerial detector for the agreed multi-epoch schedule and compare it with the COCO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ABC12-3B13-487E-9E18-33594AD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15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2. Obtain licensed Re-ID datasets, train the provided Siamese model, and report Rank-k plus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9A728-286F-424F-875F-B599D9B6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3. Run the full MOT17 and aerial benchmark suite, then record aggregate metrics and latency.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0DE5C-BA39-4CFB-A9F2-456AD42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8E8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8E8E4"/>
                </a:solidFill>
                <a:latin typeface="Arial"/>
                <a:ea typeface="Arial"/>
                <a:cs typeface="Arial"/>
              </a:rPr>
              <a:t>4. Conduct authorised field validation with calibrated zones and a documented operating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4561A-B073-4BEB-A97E-A02B5C2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B8B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8B3"/>
                </a:solidFill>
                <a:latin typeface="Arial"/>
                <a:ea typeface="Arial"/>
                <a:cs typeface="Arial"/>
              </a:rPr>
              <a:t>Current project state: a verified local prototype with real datasets, benchmark infrastructure, training evidence, and a panel-ready dashboard.</a:t>
            </a:r>
          </a:p>
        </p:txBody>
      </p:sp>
    </p:spTree>
    <p:extLst>
      <p:ext uri="{BB962C8B-B14F-4D97-AF65-F5344CB8AC3E}">
        <p14:creationId xmlns:p14="http://schemas.microsoft.com/office/powerpoint/2010/main" val="1237051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2026-09-30T13:06:24.5930000Z</dcterms:created>
  <dcterms:modified xsi:type="dcterms:W3CDTF">2026-09-30T13:06:24.5930000Z</dcterms:modified>
</coreProperties>
</file>